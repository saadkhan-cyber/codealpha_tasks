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2926080" cy="53035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035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E83A3A"/>
                </a:solidFill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09728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D4FF"/>
                </a:solidFill>
              </a:rPr>
              <a:t>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AWARENESS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291840"/>
            <a:ext cx="5486400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C"/>
                </a:solidFill>
              </a:rPr>
              <a:t>Cybersecurity Internship  |  CodeAlpha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1148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D000"/>
                </a:solidFill>
              </a:rPr>
              <a:t>Identify • Prevent • Protect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C"/>
                </a:solidFill>
              </a:rPr>
              <a:t>CONFIDENTIAL  |  SECURITY TRAINING MATERIAL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|  WHAT IS PHISHING?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0BECC"/>
                </a:solidFill>
              </a:rPr>
              <a:t>Phishing is a cyber attack where criminals disguise themselves as
trusted entities to steal sensitive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3657600" cy="34747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3657600" cy="7315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A fraudulent attempt to obtain sensitive information such as usernames, passwords, and credit card details by disguising as a trustworthy entity in digital communication.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377440"/>
            <a:ext cx="3657600" cy="34747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377440"/>
            <a:ext cx="3657600" cy="7315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514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749039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Attackers send fake emails, texts, or messages that appear legitimate. They create urgency or fear to trick victims into clicking malicious links or sharing personal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3657600" cy="34747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377440"/>
            <a:ext cx="3657600" cy="7315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514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PRIMARY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749039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Steal login credentials, financial information, install malware, gain unauthorized access to systems, or conduct identity theft for financial gain.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Phishing accounts for 36% of all data breaches worldwide  —  Verizon DBIR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556677"/>
                </a:solidFill>
              </a:rPr>
              <a:t>Source: Verizon Data Breach Investigations Report (DBIR) 2023 | IBM Security Cost of a Data Breach Report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|  TYPES OF PHISHING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103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2103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📧  EMAIL 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Most common form. Mass emails mimicking banks, services, or companies to steal credentials.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2103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73152" cy="21031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3A3A"/>
                </a:solidFill>
              </a:rPr>
              <a:t>🎯  SPEAR PHISHING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Highly targeted attacks on specific individuals using personal info gathered from social media.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2103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73152" cy="21031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000"/>
                </a:solidFill>
              </a:rPr>
              <a:t>🐋  WHALING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Targets high-profile executives (CEO, CFO). Highly researched and personalized attacks.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3657600" cy="2103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73152" cy="210312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86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A"/>
                </a:solidFill>
              </a:rPr>
              <a:t>📱  SMISHING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891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Phishing via SMS text messages containing malicious links or fake alerts.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657600" cy="2103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749039"/>
            <a:ext cx="73152" cy="21031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86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</a:rPr>
              <a:t>📞  VISHING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3891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Voice phishing — phone calls from fake bank reps, tech support, or government officials.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657600" cy="2103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49039"/>
            <a:ext cx="73152" cy="2103120"/>
          </a:xfrm>
          <a:prstGeom prst="rect">
            <a:avLst/>
          </a:prstGeom>
          <a:solidFill>
            <a:srgbClr val="B0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886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BECC"/>
                </a:solidFill>
              </a:rPr>
              <a:t>🌐  CLONE PHISHING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3891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Exact copy of a legitimate email with malicious links replacing legitimate ones.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Spear phishing attacks are 3× more likely to succeed than generic phishing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556677"/>
                </a:solidFill>
              </a:rPr>
              <a:t>Source: CISA (Cybersecurity &amp; Infrastructure Security Agency) — Phishing Guidance 2023 | Proofpoint State of the Phish Report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|  HOW TO RECOGNIZE PHISHING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94960" cy="50292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41148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3A3A"/>
                </a:solidFill>
              </a:rPr>
              <a:t>🚨  RED FLAGS TO WATCH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AAAA"/>
                </a:solidFill>
              </a:rPr>
              <a:t>⚠  Urgent or threatening language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AAAA"/>
                </a:solidFill>
              </a:rPr>
              <a:t>⚠  Suspicious sender email address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AAAA"/>
                </a:solidFill>
              </a:rPr>
              <a:t>⚠  Generic greetings (Dear Customer)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AAAA"/>
                </a:solidFill>
              </a:rPr>
              <a:t>⚠  Spelling &amp; grammar mistakes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AAAA"/>
                </a:solidFill>
              </a:rPr>
              <a:t>⚠  Unexpected attachments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AAAA"/>
                </a:solidFill>
              </a:rPr>
              <a:t>⚠  Requests for personal information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AAAA"/>
                </a:solidFill>
              </a:rPr>
              <a:t>⚠  Suspicious or shortened URLs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AAAA"/>
                </a:solidFill>
              </a:rPr>
              <a:t>⚠  Too-good-to-be-true offers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577840" cy="50292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411480"/>
          </a:xfrm>
          <a:prstGeom prst="rect">
            <a:avLst/>
          </a:prstGeom>
          <a:solidFill>
            <a:srgbClr val="04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A"/>
                </a:solidFill>
              </a:rPr>
              <a:t>✅  VERIFICATION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AFFCC"/>
                </a:solidFill>
              </a:rPr>
              <a:t>✔  Check sender's full email domain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AFFCC"/>
                </a:solidFill>
              </a:rPr>
              <a:t>✔  Hover over links before clicking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AFFCC"/>
                </a:solidFill>
              </a:rPr>
              <a:t>✔  Look for HTTPS &amp; padlock icon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AFFCC"/>
                </a:solidFill>
              </a:rPr>
              <a:t>✔  Verify via official phone/website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AFFCC"/>
                </a:solidFill>
              </a:rPr>
              <a:t>✔  Don't download unexpected files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AFFCC"/>
                </a:solidFill>
              </a:rPr>
              <a:t>✔  Enable multi-factor authentication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AFFCC"/>
                </a:solidFill>
              </a:rPr>
              <a:t>✔  Report suspicious emails to IT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AFFCC"/>
                </a:solidFill>
              </a:rPr>
              <a:t>✔  When in doubt — delete it!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95% of phishing attacks could be prevented with user awareness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556677"/>
                </a:solidFill>
              </a:rPr>
              <a:t>Source: SANS Security Awareness Report 2023 | Google Safe Browsing Transparency Report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|  REAL-WORLD PHISHING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508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150876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3A3A"/>
                </a:solidFill>
              </a:rPr>
              <a:t>💳  FAKE BANK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C"/>
                </a:solidFill>
              </a:rPr>
              <a:t>From: security@bank-alert-support.com
Subject: URGENT: Your account has been suspended!
'Click here immediately to verify your account or it will be permanently deleted within 24 hours...'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12801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3A3A"/>
                </a:solidFill>
              </a:rPr>
              <a:t>🔍 Red flags: Fake domain, urgency, threatening language, suspicious link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11430000" cy="1508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73152" cy="15087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36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</a:rPr>
              <a:t>📦  FAKE DELIVERY NOTICE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C"/>
                </a:solidFill>
              </a:rPr>
              <a:t>From: noreply@fedex-tracking-update.net
Subject: Package delivery failed — Action Required
'Your package could not be delivered. Pay $2.99 redelivery fee to receive your parcel...'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5303520" cy="12801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3832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7A00"/>
                </a:solidFill>
              </a:rPr>
              <a:t>🔍 Red flags: Unofficial domain, unexpected package, asks for payment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1508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73152" cy="150876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28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000"/>
                </a:solidFill>
              </a:rPr>
              <a:t>🔐  FAKE IT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C"/>
                </a:solidFill>
              </a:rPr>
              <a:t>From: IT-support@company-helpdesk.org
Subject: Password Expiry Notice — Immediate Action Needed
'Your password expires today. Click here to reset it using your current credentials...'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846320"/>
            <a:ext cx="5303520" cy="12801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074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000"/>
                </a:solidFill>
              </a:rPr>
              <a:t>🔍 Red flags: Fake IT domain, urgency, asks for current password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Always verify unexpected messages through official channels before taking any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556677"/>
                </a:solidFill>
              </a:rPr>
              <a:t>Source: Anti-Phishing Working Group (APWG) eCrime Report 2023 | FTC Consumer Sentinel Network Data Book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|  SOCIAL ENGINEERING TACTICS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310128"/>
            <a:ext cx="3657600" cy="7315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83A3A"/>
                </a:solidFill>
              </a:rPr>
              <a:t>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3A3A"/>
                </a:solidFill>
              </a:rPr>
              <a:t>URGENCY &amp; FEAR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Creates panic — 'Act NOW or lose access!' Forces quick decisions without thinking.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3310128"/>
            <a:ext cx="3657600" cy="731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7A00"/>
                </a:solidFill>
              </a:rPr>
              <a:t>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00"/>
                </a:solidFill>
              </a:rPr>
              <a:t>AUTHORITY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60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Impersonates banks, IT dept, government. 'This is your bank calling...'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310128"/>
            <a:ext cx="365760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D000"/>
                </a:solidFill>
              </a:rPr>
              <a:t>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000"/>
                </a:solidFill>
              </a:rPr>
              <a:t>TEMPTATION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60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Too-good offers — 'You've won a prize!' or 'Claim your free gift card!'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596128"/>
            <a:ext cx="3657600" cy="73152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94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E57A"/>
                </a:solidFill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34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7A"/>
                </a:solidFill>
              </a:rPr>
              <a:t>FAMILIARITY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Mimics a friend, colleague or known brand to build false trust.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657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5596128"/>
            <a:ext cx="3657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794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D4FF"/>
                </a:solidFill>
              </a:rPr>
              <a:t>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434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SCARCITY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846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'Limited time offer — only 2 spots left!' Creates FOMO to rush the victim.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657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5596128"/>
            <a:ext cx="3657600" cy="73152"/>
          </a:xfrm>
          <a:prstGeom prst="rect">
            <a:avLst/>
          </a:prstGeom>
          <a:solidFill>
            <a:srgbClr val="B0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794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0BECC"/>
                </a:solidFill>
              </a:rPr>
              <a:t>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BECC"/>
                </a:solidFill>
              </a:rPr>
              <a:t>SYMPATHY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463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Fake charity appeals or distress stories to manipulate emotions.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Slow down — attackers rely on you making fast, emotional decisions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556677"/>
                </a:solidFill>
              </a:rPr>
              <a:t>Source: Kevin Mitnick — 'The Art of Deception' (2002) | Social Engineering: The Science of Human Hacking — Hadnagy (2018)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|  BEST PRACTICES TO STAY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201168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E57A"/>
                </a:solidFill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 Multi-Factor
Authentication (MFA)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Enable MFA on all accounts. Even if password is stolen, attackers can't login.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201168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E57A"/>
                </a:solidFill>
              </a:rP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Strong Unique
Passwords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Use a password manager. Never reuse passwords across different accounts.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73152" cy="201168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E57A"/>
                </a:solidFill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Keep Software
Updated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Always update OS, browser &amp; antivirus. Patches fix security vulnerabilities.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73152" cy="201168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67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E57A"/>
                </a:solidFill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Security Awareness
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Regular training helps recognize phishing. Awareness is the best defense.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657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657600"/>
            <a:ext cx="73152" cy="201168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767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E57A"/>
                </a:solidFill>
              </a:rPr>
              <a:t>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Verify Before
You Click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When in doubt, call the sender via official number. Never use contact from email.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657600"/>
            <a:ext cx="3657600" cy="20116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657600"/>
            <a:ext cx="73152" cy="201168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767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E57A"/>
                </a:solidFill>
              </a:rPr>
              <a:t>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 Email
Filtering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Enable spam filters and anti-phishing tools in your email client.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MFA blocks 99.9% of automated account compromise attacks  —  Microsoft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556677"/>
                </a:solidFill>
              </a:rPr>
              <a:t>Source: Microsoft Security Intelligence Report | NIST Cybersecurity Framework SP 800-63B | NCSC Cyber Essentials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|  INTERACTIVE QUIZ — TEST YOUR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1554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57200" cy="155448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You receive an urgent email from 'IT Support' asking you to click a link and reset your password. What should you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A) Click the link immediately    B) Delete without reading    C) Verify by calling IT directly ✅    D) Reply asking for more info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39"/>
            <a:ext cx="11430000" cy="1554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63239"/>
            <a:ext cx="457200" cy="155448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6615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Which of these email addresses is MOST suspicious?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5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A) support@microsoft.com    B) noreply@micros0ft-help.net ✅    C) no-reply@amazon.com    D) admin@company.org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00600"/>
            <a:ext cx="11430000" cy="1554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800600"/>
            <a:ext cx="457200" cy="155448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303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is 'Spear Phishing'?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A) Phishing via phone calls    B) Mass email campaigns    C) Targeted attack on specific individual ✅    D) Phishing via SMS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A"/>
                </a:solidFill>
              </a:rPr>
              <a:t>Answers: Q1=C  |  Q2=B  |  Q3=C  —  How many did you get right?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556677"/>
                </a:solidFill>
              </a:rPr>
              <a:t>Source: Quiz content based on CISA Phishing Awareness Training Guidelines &amp; CompTIA Security+ SY0-701 Curriculum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 |  WHAT TO DO IF YOU'RE ATTACKED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03120" cy="47548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03120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3A3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3A3A"/>
                </a:solidFill>
              </a:rPr>
              <a:t>DON'T PANIC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Stay calm. Panicking leads to poor decisions. You have time to respond correctly.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371600"/>
            <a:ext cx="2103120" cy="47548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371600"/>
            <a:ext cx="210312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7A00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A00"/>
                </a:solidFill>
              </a:rPr>
              <a:t>DISCONNECT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01752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Immediately disconnect from the internet/network to prevent further data theft.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2103120" cy="47548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D000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000"/>
                </a:solidFill>
              </a:rPr>
              <a:t>CHANGE PASSWORDS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01752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Change all passwords, starting with email and banking. Use a different device.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371600"/>
            <a:ext cx="2103120" cy="47548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1371600"/>
            <a:ext cx="2103120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E57A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7A"/>
                </a:solidFill>
              </a:rPr>
              <a:t>REPORT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301752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Report to your IT department, manager, or cybersecurity team immediately.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371600"/>
            <a:ext cx="2103120" cy="47548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1371600"/>
            <a:ext cx="21031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1508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D4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SCAN DEVICE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01752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Run a full antivirus/malware scan on affected device.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000"/>
                </a:solidFill>
              </a:rPr>
              <a:t>Report phishing immediately — quick action can prevent further damage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556677"/>
                </a:solidFill>
              </a:rPr>
              <a:t>Source: NIST Computer Security Incident Handling Guide (SP 800-61r2) | CISA Incident Response Recommendations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4572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00D4FF"/>
                </a:solidFill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STAY SAFE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154680"/>
            <a:ext cx="4873752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337560"/>
            <a:ext cx="7616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0BECC"/>
                </a:solidFill>
              </a:rPr>
              <a:t>🔍  Think before you click — verify the sender and URL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0BECC"/>
                </a:solidFill>
              </a:rPr>
              <a:t>🔐  Enable Multi-Factor Authentication on all accounts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0BECC"/>
                </a:solidFill>
              </a:rPr>
              <a:t>📚  Stay educated — phishing tactics evolve constantly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0BECC"/>
                </a:solidFill>
              </a:rPr>
              <a:t>🚨  Report suspicious emails to your IT/security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760720"/>
            <a:ext cx="9445752" cy="6400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D000"/>
                </a:solidFill>
              </a:rPr>
              <a:t>"The human element is the strongest defense — and the biggest vulnerability."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109728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 |  REFERENCES &amp; CITATIONS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94960" cy="50292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09728" cy="5029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📚  REPORTS &amp;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[1]  Verizon DBIR (2023) — Data Breach
       Investigations Report
       verizon.com/dbir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[2]  IBM Security (2023) — Cost of a Data
       Breach Report
       ibm.com/security/data-breach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[3]  Proofpoint (2023) — State of the Phish
       Annual Report
       proofpoint.com/resources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26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[4]  APWG (2023) — eCrime Researchers
       Summit Report
       apwg.org/resources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94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[5]  Google Safe Browsing (2023)
       Transparency Report
       transparencyreport.google.com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00" cy="50292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109728" cy="502920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A"/>
                </a:solidFill>
              </a:rPr>
              <a:t>🏛  OFFICIAL GUIDELINES &amp; 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[6]  CISA (2023) — Phishing Guidance
       for Federal Agencies
       cisa.gov/phishing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889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[7]  NIST SP 800-61r2 — Computer Security
       Incident Handling Guide
       csrc.nist.gov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576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[8]  NIST SP 800-63B — Digital Identity
       Guidelines
       pages.nist.gov/800-63-3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262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[9]  Mitnick, K. (2002) — The Art of
       Deception. Wiley Publishing.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3949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[10] Hadnagy, C. (2018) — Social Engineering:
       The Science of Human Hacking.
       Wiley Publishing.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000"/>
                </a:solidFill>
              </a:rPr>
              <a:t>All statistics and guidelines cited from peer-reviewed reports and official government cybersecurity agencies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